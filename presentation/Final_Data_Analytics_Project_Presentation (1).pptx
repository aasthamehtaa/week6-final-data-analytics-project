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02020"/>
                </a:solidFill>
                <a:latin typeface="Aptos Display"/>
              </a:defRPr>
            </a:pPr>
            <a:r>
              <a:t>E-Commerce Revenue &amp;</a:t>
            </a:r>
            <a:br/>
            <a:r>
              <a:t>Profitability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0632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E5E5E"/>
                </a:solidFill>
                <a:latin typeface="Aptos"/>
              </a:defRPr>
            </a:pPr>
            <a:r>
              <a:t>Week 6 Final Data Analytics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1663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02020"/>
                </a:solidFill>
                <a:latin typeface="Aptos"/>
              </a:defRPr>
            </a:pPr>
            <a:r>
              <a:t>Aastha Mehta  |  B.Tech Artificial Intelligence &amp; Data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5E5E"/>
                </a:solidFill>
                <a:latin typeface="Aptos"/>
              </a:defRPr>
            </a:pPr>
            <a:r>
              <a:t>Aastha Mehta  •  Week 6 Final Data Analytics Project                            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2020"/>
                </a:solidFill>
                <a:latin typeface="Aptos Display"/>
              </a:defRPr>
            </a:pPr>
            <a:r>
              <a:t>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5166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02020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65960"/>
            <a:ext cx="5074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202020"/>
                </a:solidFill>
                <a:latin typeface="Aptos"/>
              </a:defRPr>
            </a:pPr>
            <a:r>
              <a:t>• Raw e-commerce data can contain missing, duplicate and invalid records.</a:t>
            </a:r>
          </a:p>
          <a:p>
            <a:pPr>
              <a:spcAft>
                <a:spcPts val="1100"/>
              </a:spcAft>
              <a:defRPr sz="1600">
                <a:solidFill>
                  <a:srgbClr val="202020"/>
                </a:solidFill>
                <a:latin typeface="Aptos"/>
              </a:defRPr>
            </a:pPr>
            <a:r>
              <a:t>• Without preparation and analysis, revenue and profitability drivers are difficult to identify.</a:t>
            </a:r>
          </a:p>
          <a:p>
            <a:pPr>
              <a:spcAft>
                <a:spcPts val="1100"/>
              </a:spcAft>
              <a:defRPr sz="1600">
                <a:solidFill>
                  <a:srgbClr val="202020"/>
                </a:solidFill>
                <a:latin typeface="Aptos"/>
              </a:defRPr>
            </a:pPr>
            <a:r>
              <a:t>• Returns may create hidden profitability leakage even when sales appear strong.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508760"/>
            <a:ext cx="5166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02020"/>
                </a:solidFill>
                <a:latin typeface="Aptos Display"/>
              </a:defRPr>
            </a:pPr>
            <a:r>
              <a:t>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965960"/>
            <a:ext cx="5074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202020"/>
                </a:solidFill>
                <a:latin typeface="Aptos"/>
              </a:defRPr>
            </a:pPr>
            <a:r>
              <a:t>• Prepare and validate the business dataset.</a:t>
            </a:r>
          </a:p>
          <a:p>
            <a:pPr>
              <a:spcAft>
                <a:spcPts val="1100"/>
              </a:spcAft>
              <a:defRPr sz="1600">
                <a:solidFill>
                  <a:srgbClr val="202020"/>
                </a:solidFill>
                <a:latin typeface="Aptos"/>
              </a:defRPr>
            </a:pPr>
            <a:r>
              <a:t>• Perform EDA, statistics and visualization.</a:t>
            </a:r>
          </a:p>
          <a:p>
            <a:pPr>
              <a:spcAft>
                <a:spcPts val="1100"/>
              </a:spcAft>
              <a:defRPr sz="1600">
                <a:solidFill>
                  <a:srgbClr val="202020"/>
                </a:solidFill>
                <a:latin typeface="Aptos"/>
              </a:defRPr>
            </a:pPr>
            <a:r>
              <a:t>• Analyse revenue, profit, returns and channels.</a:t>
            </a:r>
          </a:p>
          <a:p>
            <a:pPr>
              <a:spcAft>
                <a:spcPts val="1100"/>
              </a:spcAft>
              <a:defRPr sz="1600">
                <a:solidFill>
                  <a:srgbClr val="202020"/>
                </a:solidFill>
                <a:latin typeface="Aptos"/>
              </a:defRPr>
            </a:pPr>
            <a:r>
              <a:t>• Build an interactive Power BI dashboard.</a:t>
            </a:r>
          </a:p>
          <a:p>
            <a:pPr>
              <a:spcAft>
                <a:spcPts val="1100"/>
              </a:spcAft>
              <a:defRPr sz="1600">
                <a:solidFill>
                  <a:srgbClr val="202020"/>
                </a:solidFill>
                <a:latin typeface="Aptos"/>
              </a:defRPr>
            </a:pPr>
            <a:r>
              <a:t>• Generate data-driven recommendations.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5E5E"/>
                </a:solidFill>
                <a:latin typeface="Aptos"/>
              </a:defRPr>
            </a:pPr>
            <a:r>
              <a:t>Aastha Mehta  •  Week 6 Final Data Analytics Project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2020"/>
                </a:solidFill>
                <a:latin typeface="Aptos Display"/>
              </a:defRPr>
            </a:pPr>
            <a:r>
              <a:t>Dataset &amp; Data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5E5E"/>
                </a:solidFill>
                <a:latin typeface="Aptos"/>
              </a:defRPr>
            </a:pPr>
            <a:r>
              <a:t>Realistic synthetic e-commerce dataset generated using Python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8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E5E5E"/>
                </a:solidFill>
                <a:latin typeface="Aptos"/>
              </a:defRPr>
            </a:pPr>
            <a:r>
              <a:t>Raw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87168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02020"/>
                </a:solidFill>
                <a:latin typeface="Aptos Display"/>
              </a:defRPr>
            </a:pPr>
            <a:r>
              <a:t>2,510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8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720" y="20574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E5E5E"/>
                </a:solidFill>
                <a:latin typeface="Aptos"/>
              </a:defRPr>
            </a:pPr>
            <a:r>
              <a:t>Attributes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487168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02020"/>
                </a:solidFill>
                <a:latin typeface="Aptos Display"/>
              </a:defRPr>
            </a:pPr>
            <a:r>
              <a:t>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82880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8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0" y="20574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E5E5E"/>
                </a:solidFill>
                <a:latin typeface="Aptos"/>
              </a:defRPr>
            </a:pPr>
            <a:r>
              <a:t>Cleaned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487168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02020"/>
                </a:solidFill>
                <a:latin typeface="Aptos Display"/>
              </a:defRPr>
            </a:pPr>
            <a:r>
              <a:t>2,477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70332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202020"/>
                </a:solidFill>
                <a:latin typeface="Aptos"/>
              </a:defRPr>
            </a:pPr>
            <a:r>
              <a:t>• Identified missing customer, city, payment and discount values.</a:t>
            </a:r>
          </a:p>
          <a:p>
            <a:pPr>
              <a:spcAft>
                <a:spcPts val="1100"/>
              </a:spcAft>
              <a:defRPr sz="1600">
                <a:solidFill>
                  <a:srgbClr val="202020"/>
                </a:solidFill>
                <a:latin typeface="Aptos"/>
              </a:defRPr>
            </a:pPr>
            <a:r>
              <a:t>• Removed duplicates, invalid quantities/prices/discounts and future-dated records.</a:t>
            </a:r>
          </a:p>
          <a:p>
            <a:pPr>
              <a:spcAft>
                <a:spcPts val="1100"/>
              </a:spcAft>
              <a:defRPr sz="1600">
                <a:solidFill>
                  <a:srgbClr val="202020"/>
                </a:solidFill>
                <a:latin typeface="Aptos"/>
              </a:defRPr>
            </a:pPr>
            <a:r>
              <a:t>• Recalculated profit margin using valid net revenue.</a:t>
            </a:r>
          </a:p>
          <a:p>
            <a:pPr>
              <a:spcAft>
                <a:spcPts val="1100"/>
              </a:spcAft>
              <a:defRPr sz="1600">
                <a:solidFill>
                  <a:srgbClr val="202020"/>
                </a:solidFill>
                <a:latin typeface="Aptos"/>
              </a:defRPr>
            </a:pPr>
            <a:r>
              <a:t>• Final validation: 0 missing values and 0 duplicate records.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5E5E"/>
                </a:solidFill>
                <a:latin typeface="Aptos"/>
              </a:defRPr>
            </a:pPr>
            <a:r>
              <a:t>Aastha Mehta  •  Week 6 Final Data Analytics Project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2020"/>
                </a:solidFill>
                <a:latin typeface="Aptos Display"/>
              </a:defRPr>
            </a:pPr>
            <a:r>
              <a:t>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5E5E"/>
                </a:solidFill>
                <a:latin typeface="Aptos"/>
              </a:defRPr>
            </a:pPr>
            <a:r>
              <a:t>From transactions to business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8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E5E5E"/>
                </a:solidFill>
                <a:latin typeface="Aptos"/>
              </a:defRPr>
            </a:pPr>
            <a:r>
              <a:t>Net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87168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02020"/>
                </a:solidFill>
                <a:latin typeface="Aptos Display"/>
              </a:defRPr>
            </a:pPr>
            <a:r>
              <a:t>₹92.15 lakh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8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720" y="20574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E5E5E"/>
                </a:solidFill>
                <a:latin typeface="Aptos"/>
              </a:defRPr>
            </a:pPr>
            <a:r>
              <a:t>Total Profit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487168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02020"/>
                </a:solidFill>
                <a:latin typeface="Aptos Display"/>
              </a:defRPr>
            </a:pPr>
            <a:r>
              <a:t>₹26.16 lakh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82880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8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0" y="20574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E5E5E"/>
                </a:solidFill>
                <a:latin typeface="Aptos"/>
              </a:defRPr>
            </a:pPr>
            <a:r>
              <a:t>Return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487168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02020"/>
                </a:solidFill>
                <a:latin typeface="Aptos Display"/>
              </a:defRPr>
            </a:pPr>
            <a:r>
              <a:t>7.11%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033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02020"/>
                </a:solidFill>
                <a:latin typeface="Aptos"/>
              </a:defRPr>
            </a:pPr>
            <a:r>
              <a:t>• West region was the strongest regional contributor.</a:t>
            </a:r>
          </a:p>
          <a:p>
            <a:pPr>
              <a:spcAft>
                <a:spcPts val="1100"/>
              </a:spcAft>
              <a:defRPr sz="1700">
                <a:solidFill>
                  <a:srgbClr val="202020"/>
                </a:solidFill>
                <a:latin typeface="Aptos"/>
              </a:defRPr>
            </a:pPr>
            <a:r>
              <a:t>• Electronics led the categories in revenue and profit.</a:t>
            </a:r>
          </a:p>
          <a:p>
            <a:pPr>
              <a:spcAft>
                <a:spcPts val="1100"/>
              </a:spcAft>
              <a:defRPr sz="1700">
                <a:solidFill>
                  <a:srgbClr val="202020"/>
                </a:solidFill>
                <a:latin typeface="Aptos"/>
              </a:defRPr>
            </a:pPr>
            <a:r>
              <a:t>• Website was the strongest sales channel.</a:t>
            </a:r>
          </a:p>
          <a:p>
            <a:pPr>
              <a:spcAft>
                <a:spcPts val="1100"/>
              </a:spcAft>
              <a:defRPr sz="1700">
                <a:solidFill>
                  <a:srgbClr val="202020"/>
                </a:solidFill>
                <a:latin typeface="Aptos"/>
              </a:defRPr>
            </a:pPr>
            <a:r>
              <a:t>• Returns emerged as a major profitability concern.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5E5E"/>
                </a:solidFill>
                <a:latin typeface="Aptos"/>
              </a:defRPr>
            </a:pPr>
            <a:r>
              <a:t>Aastha Mehta  •  Week 6 Final Data Analytics Project             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2020"/>
                </a:solidFill>
                <a:latin typeface="Aptos Display"/>
              </a:defRPr>
            </a:pPr>
            <a:r>
              <a:t>Revenue &amp; Profitability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5166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02020"/>
                </a:solidFill>
                <a:latin typeface="Aptos Display"/>
              </a:defRPr>
            </a:pPr>
            <a:r>
              <a:t>Top Region — West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65960"/>
            <a:ext cx="5074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202020"/>
                </a:solidFill>
                <a:latin typeface="Aptos"/>
              </a:defRPr>
            </a:pPr>
            <a:r>
              <a:t>• Net Revenue: ₹31.58 lakh</a:t>
            </a:r>
          </a:p>
          <a:p>
            <a:pPr>
              <a:spcAft>
                <a:spcPts val="1100"/>
              </a:spcAft>
              <a:defRPr sz="1600">
                <a:solidFill>
                  <a:srgbClr val="202020"/>
                </a:solidFill>
                <a:latin typeface="Aptos"/>
              </a:defRPr>
            </a:pPr>
            <a:r>
              <a:t>• Profit: ₹8.92 lakh</a:t>
            </a:r>
          </a:p>
          <a:p>
            <a:pPr>
              <a:spcAft>
                <a:spcPts val="1100"/>
              </a:spcAft>
              <a:defRPr sz="1600">
                <a:solidFill>
                  <a:srgbClr val="202020"/>
                </a:solidFill>
                <a:latin typeface="Aptos"/>
              </a:defRPr>
            </a:pPr>
            <a:r>
              <a:t>• Highest regional revenue and profit.</a:t>
            </a:r>
          </a:p>
          <a:p>
            <a:pPr>
              <a:spcAft>
                <a:spcPts val="1100"/>
              </a:spcAft>
              <a:defRPr sz="1600">
                <a:solidFill>
                  <a:srgbClr val="202020"/>
                </a:solidFill>
                <a:latin typeface="Aptos"/>
              </a:defRPr>
            </a:pPr>
            <a:r>
              <a:t>• Can serve as a benchmark for other regions.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508760"/>
            <a:ext cx="5166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02020"/>
                </a:solidFill>
                <a:latin typeface="Aptos Display"/>
              </a:defRPr>
            </a:pPr>
            <a:r>
              <a:t>Top Channel — Website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965960"/>
            <a:ext cx="5074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202020"/>
                </a:solidFill>
                <a:latin typeface="Aptos"/>
              </a:defRPr>
            </a:pPr>
            <a:r>
              <a:t>• Net Revenue: ₹41.04 lakh</a:t>
            </a:r>
          </a:p>
          <a:p>
            <a:pPr>
              <a:spcAft>
                <a:spcPts val="1100"/>
              </a:spcAft>
              <a:defRPr sz="1600">
                <a:solidFill>
                  <a:srgbClr val="202020"/>
                </a:solidFill>
                <a:latin typeface="Aptos"/>
              </a:defRPr>
            </a:pPr>
            <a:r>
              <a:t>• Profit: ₹12.30 lakh</a:t>
            </a:r>
          </a:p>
          <a:p>
            <a:pPr>
              <a:spcAft>
                <a:spcPts val="1100"/>
              </a:spcAft>
              <a:defRPr sz="1600">
                <a:solidFill>
                  <a:srgbClr val="202020"/>
                </a:solidFill>
                <a:latin typeface="Aptos"/>
              </a:defRPr>
            </a:pPr>
            <a:r>
              <a:t>• Profit Margin: 29.98%</a:t>
            </a:r>
          </a:p>
          <a:p>
            <a:pPr>
              <a:spcAft>
                <a:spcPts val="1100"/>
              </a:spcAft>
              <a:defRPr sz="1600">
                <a:solidFill>
                  <a:srgbClr val="202020"/>
                </a:solidFill>
                <a:latin typeface="Aptos"/>
              </a:defRPr>
            </a:pPr>
            <a:r>
              <a:t>• Strongest overall sales-channel performance.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5E5E"/>
                </a:solidFill>
                <a:latin typeface="Aptos"/>
              </a:defRPr>
            </a:pPr>
            <a:r>
              <a:t>Aastha Mehta  •  Week 6 Final Data Analytics Project             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2020"/>
                </a:solidFill>
                <a:latin typeface="Aptos Display"/>
              </a:defRPr>
            </a:pPr>
            <a:r>
              <a:t>Return &amp; Profit Leakage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8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E5E5E"/>
                </a:solidFill>
                <a:latin typeface="Aptos"/>
              </a:defRPr>
            </a:pPr>
            <a:r>
              <a:t>Returned orders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87168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02020"/>
                </a:solidFill>
                <a:latin typeface="Aptos Display"/>
              </a:defRPr>
            </a:pPr>
            <a:r>
              <a:t>176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8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720" y="20574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E5E5E"/>
                </a:solidFill>
                <a:latin typeface="Aptos"/>
              </a:defRPr>
            </a:pPr>
            <a:r>
              <a:t>Return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487168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02020"/>
                </a:solidFill>
                <a:latin typeface="Aptos Display"/>
              </a:defRPr>
            </a:pPr>
            <a:r>
              <a:t>7.11%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82880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8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0" y="20574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E5E5E"/>
                </a:solidFill>
                <a:latin typeface="Aptos"/>
              </a:defRPr>
            </a:pPr>
            <a:r>
              <a:t>Profit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487168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02020"/>
                </a:solidFill>
                <a:latin typeface="Aptos Display"/>
              </a:defRPr>
            </a:pPr>
            <a:r>
              <a:t>−₹3.07 lakh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03320"/>
            <a:ext cx="103327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202020"/>
                </a:solidFill>
                <a:latin typeface="Aptos"/>
              </a:defRPr>
            </a:pPr>
            <a:r>
              <a:t>• Returned orders generated approximately −₹3.07 lakh in profit.</a:t>
            </a:r>
          </a:p>
          <a:p>
            <a:pPr>
              <a:spcAft>
                <a:spcPts val="1100"/>
              </a:spcAft>
              <a:defRPr sz="1600">
                <a:solidFill>
                  <a:srgbClr val="202020"/>
                </a:solidFill>
                <a:latin typeface="Aptos"/>
              </a:defRPr>
            </a:pPr>
            <a:r>
              <a:t>• Home &amp; Kitchen had the highest return rate: 8.91%.</a:t>
            </a:r>
          </a:p>
          <a:p>
            <a:pPr>
              <a:spcAft>
                <a:spcPts val="1100"/>
              </a:spcAft>
              <a:defRPr sz="1600">
                <a:solidFill>
                  <a:srgbClr val="202020"/>
                </a:solidFill>
                <a:latin typeface="Aptos"/>
              </a:defRPr>
            </a:pPr>
            <a:r>
              <a:t>• Home &amp; Kitchen also had the largest return-related profit loss: approximately ₹1.08 lakh.</a:t>
            </a:r>
          </a:p>
          <a:p>
            <a:pPr>
              <a:spcAft>
                <a:spcPts val="1100"/>
              </a:spcAft>
              <a:defRPr sz="1600">
                <a:solidFill>
                  <a:srgbClr val="202020"/>
                </a:solidFill>
                <a:latin typeface="Aptos"/>
              </a:defRPr>
            </a:pPr>
            <a:r>
              <a:t>• Reducing returns can improve profitability without relying only on additional sales.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5E5E"/>
                </a:solidFill>
                <a:latin typeface="Aptos"/>
              </a:defRPr>
            </a:pPr>
            <a:r>
              <a:t>Aastha Mehta  •  Week 6 Final Data Analytics Project                     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2020"/>
                </a:solidFill>
                <a:latin typeface="Aptos Display"/>
              </a:defRPr>
            </a:pPr>
            <a:r>
              <a:t>Power BI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5E5E"/>
                </a:solidFill>
                <a:latin typeface="Aptos"/>
              </a:defRPr>
            </a:pPr>
            <a:r>
              <a:t>Interactive business intelligence 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1065276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8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9659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02020"/>
                </a:solidFill>
                <a:latin typeface="Aptos Display"/>
              </a:defRPr>
            </a:pPr>
            <a:r>
              <a:t>E-Commerce Revenue &amp; Profitability Intelligence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063240"/>
            <a:ext cx="8503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202020"/>
                </a:solidFill>
                <a:latin typeface="Aptos"/>
              </a:defRPr>
            </a:pPr>
            <a:r>
              <a:t>• 3 KPI cards: Net Revenue, Total Profit, Return Rate</a:t>
            </a:r>
          </a:p>
          <a:p>
            <a:pPr>
              <a:spcAft>
                <a:spcPts val="1100"/>
              </a:spcAft>
              <a:defRPr sz="1800">
                <a:solidFill>
                  <a:srgbClr val="202020"/>
                </a:solidFill>
                <a:latin typeface="Aptos"/>
              </a:defRPr>
            </a:pPr>
            <a:r>
              <a:t>• 7 analytical visualizations</a:t>
            </a:r>
          </a:p>
          <a:p>
            <a:pPr>
              <a:spcAft>
                <a:spcPts val="1100"/>
              </a:spcAft>
              <a:defRPr sz="1800">
                <a:solidFill>
                  <a:srgbClr val="202020"/>
                </a:solidFill>
                <a:latin typeface="Aptos"/>
              </a:defRPr>
            </a:pPr>
            <a:r>
              <a:t>• 3 interactive slicers: Region, Sales Channel, Category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074920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5E5E5E"/>
                </a:solidFill>
                <a:latin typeface="Aptos"/>
              </a:defRPr>
            </a:pPr>
            <a:r>
              <a:rPr dirty="0"/>
              <a:t>Replace this area with your full Power BI dashboard screenshot if desired.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5E5E"/>
                </a:solidFill>
                <a:latin typeface="Aptos"/>
              </a:defRPr>
            </a:pPr>
            <a:r>
              <a:t>Aastha Mehta  •  Week 6 Final Data Analytics Project                                      7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E1AE7A9-9A7E-FB9F-D824-A7D7CB67F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229" y="1051560"/>
            <a:ext cx="10994655" cy="52333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2020"/>
                </a:solidFill>
                <a:latin typeface="Aptos Display"/>
              </a:defRPr>
            </a:pPr>
            <a:r>
              <a:t>Business Insights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5166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02020"/>
                </a:solidFill>
                <a:latin typeface="Aptos Display"/>
              </a:defRPr>
            </a:pPr>
            <a:r>
              <a:t>Key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65960"/>
            <a:ext cx="5074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202020"/>
                </a:solidFill>
                <a:latin typeface="Aptos"/>
              </a:defRPr>
            </a:pPr>
            <a:r>
              <a:t>• West is the strongest region.</a:t>
            </a:r>
          </a:p>
          <a:p>
            <a:pPr>
              <a:spcAft>
                <a:spcPts val="1100"/>
              </a:spcAft>
              <a:defRPr sz="1600">
                <a:solidFill>
                  <a:srgbClr val="202020"/>
                </a:solidFill>
                <a:latin typeface="Aptos"/>
              </a:defRPr>
            </a:pPr>
            <a:r>
              <a:t>• Electronics leads revenue and profit.</a:t>
            </a:r>
          </a:p>
          <a:p>
            <a:pPr>
              <a:spcAft>
                <a:spcPts val="1100"/>
              </a:spcAft>
              <a:defRPr sz="1600">
                <a:solidFill>
                  <a:srgbClr val="202020"/>
                </a:solidFill>
                <a:latin typeface="Aptos"/>
              </a:defRPr>
            </a:pPr>
            <a:r>
              <a:t>• Returns cause significant profit leakage.</a:t>
            </a:r>
          </a:p>
          <a:p>
            <a:pPr>
              <a:spcAft>
                <a:spcPts val="1100"/>
              </a:spcAft>
              <a:defRPr sz="1600">
                <a:solidFill>
                  <a:srgbClr val="202020"/>
                </a:solidFill>
                <a:latin typeface="Aptos"/>
              </a:defRPr>
            </a:pPr>
            <a:r>
              <a:t>• Home &amp; Kitchen has the highest return risk.</a:t>
            </a:r>
          </a:p>
          <a:p>
            <a:pPr>
              <a:spcAft>
                <a:spcPts val="1100"/>
              </a:spcAft>
              <a:defRPr sz="1600">
                <a:solidFill>
                  <a:srgbClr val="202020"/>
                </a:solidFill>
                <a:latin typeface="Aptos"/>
              </a:defRPr>
            </a:pPr>
            <a:r>
              <a:t>• Website is the strongest channel.</a:t>
            </a:r>
          </a:p>
          <a:p>
            <a:pPr>
              <a:spcAft>
                <a:spcPts val="1100"/>
              </a:spcAft>
              <a:defRPr sz="1600">
                <a:solidFill>
                  <a:srgbClr val="202020"/>
                </a:solidFill>
                <a:latin typeface="Aptos"/>
              </a:defRPr>
            </a:pPr>
            <a:r>
              <a:t>• Marketplace has the lowest margin.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508760"/>
            <a:ext cx="5166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02020"/>
                </a:solidFill>
                <a:latin typeface="Aptos Display"/>
              </a:defRPr>
            </a:pPr>
            <a:r>
              <a:t>Recommendations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965960"/>
            <a:ext cx="5074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202020"/>
                </a:solidFill>
                <a:latin typeface="Aptos"/>
              </a:defRPr>
            </a:pPr>
            <a:r>
              <a:t>• Investigate return reasons, quality, packaging and fulfilment in Home &amp; Kitchen and Electronics.</a:t>
            </a:r>
          </a:p>
          <a:p>
            <a:pPr>
              <a:spcAft>
                <a:spcPts val="1100"/>
              </a:spcAft>
              <a:defRPr sz="1600">
                <a:solidFill>
                  <a:srgbClr val="202020"/>
                </a:solidFill>
                <a:latin typeface="Aptos"/>
              </a:defRPr>
            </a:pPr>
            <a:r>
              <a:t>• Strengthen the Website channel while reviewing Marketplace pricing, fees and customer experience.</a:t>
            </a:r>
          </a:p>
          <a:p>
            <a:pPr>
              <a:spcAft>
                <a:spcPts val="1100"/>
              </a:spcAft>
              <a:defRPr sz="1600">
                <a:solidFill>
                  <a:srgbClr val="202020"/>
                </a:solidFill>
                <a:latin typeface="Aptos"/>
              </a:defRPr>
            </a:pPr>
            <a:r>
              <a:t>• Investigate North region's 8.01% return rate and benchmark successful West-region practices.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5E5E"/>
                </a:solidFill>
                <a:latin typeface="Aptos"/>
              </a:defRPr>
            </a:pPr>
            <a:r>
              <a:t>Aastha Mehta  •  Week 6 Final Data Analytics Project                                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2020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02020"/>
                </a:solidFill>
                <a:latin typeface="Aptos"/>
              </a:defRPr>
            </a:pPr>
            <a:r>
              <a:t>• The project demonstrates an end-to-end data analytics workflow from data preparation to business intelligence.</a:t>
            </a:r>
          </a:p>
          <a:p>
            <a:pPr>
              <a:spcAft>
                <a:spcPts val="1100"/>
              </a:spcAft>
              <a:defRPr sz="1900">
                <a:solidFill>
                  <a:srgbClr val="202020"/>
                </a:solidFill>
                <a:latin typeface="Aptos"/>
              </a:defRPr>
            </a:pPr>
            <a:r>
              <a:t>• The analysis identified major revenue and profit drivers across categories, regions and sales channels.</a:t>
            </a:r>
          </a:p>
          <a:p>
            <a:pPr>
              <a:spcAft>
                <a:spcPts val="1100"/>
              </a:spcAft>
              <a:defRPr sz="1900">
                <a:solidFill>
                  <a:srgbClr val="202020"/>
                </a:solidFill>
                <a:latin typeface="Aptos"/>
              </a:defRPr>
            </a:pPr>
            <a:r>
              <a:t>• Product returns were identified as a significant source of profitability leakage.</a:t>
            </a:r>
          </a:p>
          <a:p>
            <a:pPr>
              <a:spcAft>
                <a:spcPts val="1100"/>
              </a:spcAft>
              <a:defRPr sz="1900">
                <a:solidFill>
                  <a:srgbClr val="202020"/>
                </a:solidFill>
                <a:latin typeface="Aptos"/>
              </a:defRPr>
            </a:pPr>
            <a:r>
              <a:t>• The Power BI dashboard converts analytical results into an interactive decision-support view.</a:t>
            </a:r>
          </a:p>
          <a:p>
            <a:pPr>
              <a:spcAft>
                <a:spcPts val="1100"/>
              </a:spcAft>
              <a:defRPr sz="1900">
                <a:solidFill>
                  <a:srgbClr val="202020"/>
                </a:solidFill>
                <a:latin typeface="Aptos"/>
              </a:defRPr>
            </a:pPr>
            <a:r>
              <a:t>• Data-driven actions can help reduce returns, improve channel efficiency and strengthen profitability.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949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02020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5E5E"/>
                </a:solidFill>
                <a:latin typeface="Aptos"/>
              </a:defRPr>
            </a:pPr>
            <a:r>
              <a:t>Aastha Mehta  •  Week 6 Final Data Analytics Project                                     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6BDB84FE262AF49A3EEB9B9A8C7F1D6" ma:contentTypeVersion="8" ma:contentTypeDescription="Create a new document." ma:contentTypeScope="" ma:versionID="9b5ea27284bf26d952d03e5fe7646ae4">
  <xsd:schema xmlns:xsd="http://www.w3.org/2001/XMLSchema" xmlns:xs="http://www.w3.org/2001/XMLSchema" xmlns:p="http://schemas.microsoft.com/office/2006/metadata/properties" xmlns:ns3="36ea8202-bb59-4bdf-944f-94bbd9659a43" targetNamespace="http://schemas.microsoft.com/office/2006/metadata/properties" ma:root="true" ma:fieldsID="797d45bf7238887c89f57f1e39190683" ns3:_="">
    <xsd:import namespace="36ea8202-bb59-4bdf-944f-94bbd9659a4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ea8202-bb59-4bdf-944f-94bbd9659a4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2524F9B-A15A-4F82-B674-8B623739D8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ea8202-bb59-4bdf-944f-94bbd9659a4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8B6174E-7CDF-496E-A97F-7E08BDE4F10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5A57339-A269-4A32-BA02-B59E765347C6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691</Words>
  <Application>Microsoft Office PowerPoint</Application>
  <PresentationFormat>Widescreen</PresentationFormat>
  <Paragraphs>95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MEHTA AASTHA KUNTAL</cp:lastModifiedBy>
  <cp:revision>2</cp:revision>
  <dcterms:created xsi:type="dcterms:W3CDTF">2013-01-27T09:14:16Z</dcterms:created>
  <dcterms:modified xsi:type="dcterms:W3CDTF">2026-09-11T16:15:10Z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0x01010026BDB84FE262AF49A3EEB9B9A8C7F1D6</vt:lpwstr>
  </property>
</Properties>
</file>